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COMAC C919 介绍与全球化路径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16161"/>
                </a:solidFill>
              </a:defRPr>
            </a:pPr>
            <a:r>
              <a:t>中国商飞窄体客机的市场定位、竞争力与出海步骤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D47A1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1. C919项目概览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2. 核心竞争力与商业价值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3. 出海必要性与目标市场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4. 走向全世界的四阶段步骤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5. 关键挑战与应对策略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D47A1"/>
                </a:solidFill>
              </a:defRPr>
            </a:pPr>
            <a:r>
              <a:t>C919是什么？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C919是中国商飞（COMAC）研制的单通道窄体干线客机。</a:t>
            </a:r>
          </a:p>
          <a:p>
            <a:pPr lvl="1">
              <a:defRPr sz="1800">
                <a:solidFill>
                  <a:srgbClr val="616161"/>
                </a:solidFill>
              </a:defRPr>
            </a:pPr>
            <a:r>
              <a:t>价值关键词：自主可控、产业升级、长期商业化能力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目标市场：150-190座级，覆盖高频中短程航线。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定位：与A320neo、737 MAX同级别竞争。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D47A1"/>
                </a:solidFill>
              </a:defRPr>
            </a:pPr>
            <a:r>
              <a:t>商业价值与战略意义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对航空公司：提供新选择，优化机队结构与采购议价。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对产业链：带动航电、材料、制造、维修等高端制造升级。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对国家品牌：提升中国民机在全球市场的话语权。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D47A1"/>
                </a:solidFill>
              </a:defRPr>
            </a:pPr>
            <a:r>
              <a:t>为何必须出海？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民机是全球化产业，规模效应决定长期竞争力。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仅依赖单一市场难以支撑持续迭代与成本下降。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国际运营数据越丰富，越有利于后续机型（如C929）发展。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D47A1"/>
                </a:solidFill>
              </a:defRPr>
            </a:pPr>
            <a:r>
              <a:t>优先目标市场（建议）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第一梯队：东南亚、中东（航线结构匹配、增长快）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第二梯队：中亚、非洲、拉美（机队更新需求明确）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第三梯队：欧洲等高标准市场（长期认证与品牌目标）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C919出海路径：四阶段推进图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D47A1"/>
                </a:solidFill>
              </a:defRPr>
            </a:pPr>
            <a:r>
              <a:t>阶段1</a:t>
            </a:r>
          </a:p>
          <a:p>
            <a:pPr algn="ctr">
              <a:defRPr b="1" sz="1600">
                <a:solidFill>
                  <a:srgbClr val="212121"/>
                </a:solidFill>
              </a:defRPr>
            </a:pPr>
            <a:r>
              <a:t>国内运营做深</a:t>
            </a:r>
          </a:p>
          <a:p>
            <a:pPr algn="ctr">
              <a:defRPr sz="1400">
                <a:solidFill>
                  <a:srgbClr val="616161"/>
                </a:solidFill>
              </a:defRPr>
            </a:pPr>
            <a:r>
              <a:t>持续提升航线、准点率、可靠性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337559" y="2606040"/>
            <a:ext cx="182880" cy="457200"/>
          </a:xfrm>
          <a:prstGeom prst="rightArrow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59" y="1828800"/>
            <a:ext cx="256032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D47A1"/>
                </a:solidFill>
              </a:defRPr>
            </a:pPr>
            <a:r>
              <a:t>阶段2</a:t>
            </a:r>
          </a:p>
          <a:p>
            <a:pPr algn="ctr">
              <a:defRPr b="1" sz="1600">
                <a:solidFill>
                  <a:srgbClr val="212121"/>
                </a:solidFill>
              </a:defRPr>
            </a:pPr>
            <a:r>
              <a:t>区域市场突破</a:t>
            </a:r>
          </a:p>
          <a:p>
            <a:pPr algn="ctr">
              <a:defRPr sz="1400">
                <a:solidFill>
                  <a:srgbClr val="616161"/>
                </a:solidFill>
              </a:defRPr>
            </a:pPr>
            <a:r>
              <a:t>先东南亚/中东，积累海外运营样板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72199" y="2606040"/>
            <a:ext cx="182880" cy="457200"/>
          </a:xfrm>
          <a:prstGeom prst="rightArrow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799" y="1828800"/>
            <a:ext cx="2560320" cy="2011680"/>
          </a:xfrm>
          <a:prstGeom prst="roundRect">
            <a:avLst/>
          </a:prstGeom>
          <a:solidFill>
            <a:srgbClr val="FFF3E0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D47A1"/>
                </a:solidFill>
              </a:defRPr>
            </a:pPr>
            <a:r>
              <a:t>阶段3</a:t>
            </a:r>
          </a:p>
          <a:p>
            <a:pPr algn="ctr">
              <a:defRPr b="1" sz="1600">
                <a:solidFill>
                  <a:srgbClr val="212121"/>
                </a:solidFill>
              </a:defRPr>
            </a:pPr>
            <a:r>
              <a:t>适航互认扩展</a:t>
            </a:r>
          </a:p>
          <a:p>
            <a:pPr algn="ctr">
              <a:defRPr sz="1400">
                <a:solidFill>
                  <a:srgbClr val="616161"/>
                </a:solidFill>
              </a:defRPr>
            </a:pPr>
            <a:r>
              <a:t>推动EASA/FAA路径与双边协定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06840" y="2606040"/>
            <a:ext cx="182880" cy="457200"/>
          </a:xfrm>
          <a:prstGeom prst="rightArrow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F3E5F5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D47A1"/>
                </a:solidFill>
              </a:defRPr>
            </a:pPr>
            <a:r>
              <a:t>阶段4</a:t>
            </a:r>
          </a:p>
          <a:p>
            <a:pPr algn="ctr">
              <a:defRPr b="1" sz="1600">
                <a:solidFill>
                  <a:srgbClr val="212121"/>
                </a:solidFill>
              </a:defRPr>
            </a:pPr>
            <a:r>
              <a:t>全球规模化</a:t>
            </a:r>
          </a:p>
          <a:p>
            <a:pPr algn="ctr">
              <a:defRPr sz="1400">
                <a:solidFill>
                  <a:srgbClr val="616161"/>
                </a:solidFill>
              </a:defRPr>
            </a:pPr>
            <a:r>
              <a:t>网络化服务+融资租赁+品牌建设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出海主要挑战与应对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07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4754880"/>
              </a:tblGrid>
              <a:tr h="98755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风险点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应对策略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适航认证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国际认证周期长，标准严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提前开展技术符合性映射；分阶段取证</a:t>
                      </a:r>
                    </a:p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供应链全球化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海外备件与维修网络不足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建立区域备件中心+MRO合作伙伴体系</a:t>
                      </a:r>
                    </a:p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客户信心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新机型海外运营案例少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投放示范航线，强化安全与经济性数据披露</a:t>
                      </a:r>
                    </a:p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金融与服务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租赁和售后方案不够成熟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联合租赁公司，推出“飞机+服务+金融”打包方案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2412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47A1"/>
                </a:solidFill>
              </a:defRPr>
            </a:pPr>
            <a:r>
              <a:t>总结：C919“走向全球”不是单点突破，而是系统工程</a:t>
            </a:r>
          </a:p>
          <a:p>
            <a:pPr algn="l">
              <a:defRPr sz="2000">
                <a:solidFill>
                  <a:srgbClr val="212121"/>
                </a:solidFill>
              </a:defRPr>
            </a:pPr>
            <a:r>
              <a:t>1. 先做强国内商业运行，形成稳定运营口碑</a:t>
            </a:r>
          </a:p>
          <a:p>
            <a:pPr algn="l">
              <a:defRPr sz="2000">
                <a:solidFill>
                  <a:srgbClr val="212121"/>
                </a:solidFill>
              </a:defRPr>
            </a:pPr>
            <a:r>
              <a:t>2. 再做透区域市场，建立可复制海外样板</a:t>
            </a:r>
          </a:p>
          <a:p>
            <a:pPr algn="l">
              <a:defRPr sz="2000">
                <a:solidFill>
                  <a:srgbClr val="212121"/>
                </a:solidFill>
              </a:defRPr>
            </a:pPr>
            <a:r>
              <a:t>3. 同步推进国际认证、服务网络、融资生态</a:t>
            </a:r>
          </a:p>
          <a:p>
            <a:pPr algn="l">
              <a:defRPr sz="2000">
                <a:solidFill>
                  <a:srgbClr val="212121"/>
                </a:solidFill>
              </a:defRPr>
            </a:pPr>
            <a:r>
              <a:t>4. 最终实现“产品+服务+品牌”的全球竞争力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5852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谢谢观看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